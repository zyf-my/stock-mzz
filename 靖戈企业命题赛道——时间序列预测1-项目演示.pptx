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51" y="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0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5156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0DBE8"/>
                </a:solidFill>
                <a:latin typeface="微软雅黑"/>
                <a:ea typeface="微软雅黑"/>
              </a:rPr>
              <a:t>2026 友安杯南京大学「人工智能+」大学生创新技能挑战赛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</a:rPr>
              <a:t>靖戈企业命题 · 时间序列预测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F0D9A0"/>
                </a:solidFill>
                <a:latin typeface="微软雅黑"/>
                <a:ea typeface="微软雅黑"/>
              </a:rPr>
              <a:t>面向股票横截面潜力排序的人工智能建模系统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058400" cy="1056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 dirty="0" err="1">
                <a:solidFill>
                  <a:srgbClr val="E4ECF4"/>
                </a:solidFill>
                <a:latin typeface="微软雅黑"/>
                <a:ea typeface="微软雅黑"/>
              </a:rPr>
              <a:t>项目演示</a:t>
            </a:r>
            <a:r>
              <a:rPr sz="1600" b="0" i="0" dirty="0">
                <a:solidFill>
                  <a:srgbClr val="E4ECF4"/>
                </a:solidFill>
                <a:latin typeface="微软雅黑"/>
                <a:ea typeface="微软雅黑"/>
              </a:rPr>
              <a:t> PPT  ·  </a:t>
            </a:r>
            <a:r>
              <a:rPr sz="1600" b="0" i="0" dirty="0" err="1">
                <a:solidFill>
                  <a:srgbClr val="E4ECF4"/>
                </a:solidFill>
                <a:latin typeface="微软雅黑"/>
                <a:ea typeface="微软雅黑"/>
              </a:rPr>
              <a:t>初赛评审参考</a:t>
            </a:r>
            <a:endParaRPr sz="1600" b="0" i="0" dirty="0">
              <a:solidFill>
                <a:srgbClr val="E4ECF4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 dirty="0" err="1">
                <a:solidFill>
                  <a:srgbClr val="C8D4E2"/>
                </a:solidFill>
                <a:latin typeface="微软雅黑"/>
                <a:ea typeface="微软雅黑"/>
              </a:rPr>
              <a:t>课题标签：y1</a:t>
            </a:r>
            <a:r>
              <a:rPr lang="zh-CN" altLang="en-US" sz="1500" b="0" i="0" dirty="0">
                <a:solidFill>
                  <a:srgbClr val="C8D4E2"/>
                </a:solidFill>
                <a:latin typeface="微软雅黑"/>
                <a:ea typeface="微软雅黑"/>
              </a:rPr>
              <a:t/>
            </a:r>
            <a:r>
              <a:rPr sz="1500" b="0" i="0" dirty="0">
                <a:solidFill>
                  <a:srgbClr val="C8D4E2"/>
                </a:solidFill>
                <a:latin typeface="微软雅黑"/>
                <a:ea typeface="微软雅黑"/>
              </a:rPr>
              <a:t/>
            </a:r>
            <a:r>
              <a:rPr sz="1500" b="0" i="0" dirty="0" err="1">
                <a:solidFill>
                  <a:srgbClr val="C8D4E2"/>
                </a:solidFill>
                <a:latin typeface="微软雅黑"/>
                <a:ea typeface="微软雅黑"/>
              </a:rPr>
              <a:t/>
            </a:r>
            <a:r>
              <a:rPr sz="1500" b="0" i="0" dirty="0">
                <a:solidFill>
                  <a:srgbClr val="C8D4E2"/>
                </a:solidFill>
                <a:latin typeface="微软雅黑"/>
                <a:ea typeface="微软雅黑"/>
              </a:rPr>
              <a:t/>
            </a:r>
            <a:endParaRPr lang="zh-CN" altLang="en-US" sz="1500" b="0" i="0" dirty="0">
              <a:solidFill>
                <a:srgbClr val="C8D4E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zh-CN" altLang="en-US" sz="1500" b="1" i="0" dirty="0">
                <a:solidFill>
                  <a:srgbClr val="F0D9A0"/>
                </a:solidFill>
                <a:latin typeface="微软雅黑"/>
                <a:ea typeface="微软雅黑"/>
              </a:rPr>
              <a:t>主结果：本地验证集 RankIC  0.1308     平台测试集  0.1293     官方门槛 ≥ 0.12</a:t>
            </a:r>
            <a:r>
              <a:rPr lang="en-US" sz="1500" b="1" i="0" dirty="0" err="1">
                <a:solidFill>
                  <a:srgbClr val="F0D9A0"/>
                </a:solidFill>
                <a:latin typeface="微软雅黑"/>
                <a:ea typeface="微软雅黑"/>
              </a:rPr>
              <a:t/>
            </a:r>
            <a:r>
              <a:rPr lang="zh-CN" altLang="en-US" sz="1500" b="1" i="0" dirty="0">
                <a:solidFill>
                  <a:srgbClr val="F0D9A0"/>
                </a:solidFill>
                <a:latin typeface="微软雅黑"/>
                <a:ea typeface="微软雅黑"/>
              </a:rPr>
              <a:t/>
            </a:r>
            <a:r>
              <a:rPr lang="en-US" altLang="zh-CN" sz="1500" b="1" i="0" dirty="0">
                <a:solidFill>
                  <a:srgbClr val="F0D9A0"/>
                </a:solidFill>
                <a:latin typeface="微软雅黑"/>
                <a:ea typeface="微软雅黑"/>
              </a:rPr>
              <a:t/>
            </a:r>
            <a:r>
              <a:rPr lang="zh-CN" altLang="en-US" sz="1500" b="1" i="0" dirty="0">
                <a:solidFill>
                  <a:srgbClr val="F0D9A0"/>
                </a:solidFill>
                <a:latin typeface="微软雅黑"/>
                <a:ea typeface="微软雅黑"/>
              </a:rPr>
              <a:t/>
            </a:r>
            <a:r>
              <a:rPr lang="en-US" altLang="zh-CN" sz="1500" b="1" i="0" dirty="0">
                <a:solidFill>
                  <a:srgbClr val="F0D9A0"/>
                </a:solidFill>
                <a:latin typeface="微软雅黑"/>
                <a:ea typeface="微软雅黑"/>
              </a:rPr>
              <a:t/>
            </a:r>
            <a:r>
              <a:rPr lang="zh-CN" altLang="en-US" sz="1500" b="1" i="0" dirty="0">
                <a:solidFill>
                  <a:srgbClr val="F0D9A0"/>
                </a:solidFill>
                <a:latin typeface="微软雅黑"/>
                <a:ea typeface="微软雅黑"/>
              </a:rPr>
              <a:t/>
            </a:r>
            <a:r>
              <a:rPr lang="en-US" altLang="zh-CN" sz="1500" b="1" i="0" dirty="0">
                <a:solidFill>
                  <a:srgbClr val="F0D9A0"/>
                </a:solidFill>
                <a:latin typeface="微软雅黑"/>
                <a:ea typeface="微软雅黑"/>
              </a:rPr>
              <a:t/>
            </a:r>
            <a:endParaRPr lang="zh-CN" altLang="en-US" sz="1500" b="1" i="0" dirty="0">
              <a:solidFill>
                <a:srgbClr val="F0D9A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BBE"/>
                </a:solidFill>
                <a:latin typeface="微软雅黑"/>
                <a:ea typeface="微软雅黑"/>
              </a:rPr>
              <a:t>离线竞赛预测  ·  不提供投资建议  ·  赛题数据不入库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按项目关键环节展开，对应实现方案六章结构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09728" cy="2194560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E52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C323A"/>
                </a:solidFill>
                <a:latin typeface="微软雅黑"/>
                <a:ea typeface="微软雅黑"/>
              </a:rPr>
              <a:t>赛题理解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排序目标、官方提示、评分构成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109728" cy="2194560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E52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C323A"/>
                </a:solidFill>
                <a:latin typeface="微软雅黑"/>
                <a:ea typeface="微软雅黑"/>
              </a:rPr>
              <a:t>数据与约束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0604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面板规模、时间切分、因果与 Mask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234440"/>
            <a:ext cx="109728" cy="2194560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E5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0312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C323A"/>
                </a:solidFill>
                <a:latin typeface="微软雅黑"/>
                <a:ea typeface="微软雅黑"/>
              </a:rPr>
              <a:t>总体路线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60604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配置驱动流水线：特征 → 双轴 → 融合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0332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09728" cy="2194560"/>
          </a:xfrm>
          <a:prstGeom prst="rect">
            <a:avLst/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0233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E52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C323A"/>
                </a:solidFill>
                <a:latin typeface="微软雅黑"/>
                <a:ea typeface="微软雅黑"/>
              </a:rPr>
              <a:t>双轴建模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股票维状态 + 时间维轨迹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70332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7680" y="3703320"/>
            <a:ext cx="109728" cy="2194560"/>
          </a:xfrm>
          <a:prstGeom prst="rect">
            <a:avLst/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0233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E52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5720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C323A"/>
                </a:solidFill>
                <a:latin typeface="微软雅黑"/>
                <a:ea typeface="微软雅黑"/>
              </a:rPr>
              <a:t>动态融合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749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覆盖度门控、递推排名、验证锁定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70332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3703320"/>
            <a:ext cx="109728" cy="2194560"/>
          </a:xfrm>
          <a:prstGeom prst="rect">
            <a:avLst/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40233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2E52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5720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C323A"/>
                </a:solidFill>
                <a:latin typeface="微软雅黑"/>
                <a:ea typeface="微软雅黑"/>
              </a:rPr>
              <a:t>创新与结果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50749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可归因消融、递推融合、过线成绩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01  赛题理解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不是点预测，而是同一交易日内「谁更有潜力」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207008"/>
            <a:ext cx="252374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E52"/>
                </a:solidFill>
                <a:latin typeface="微软雅黑"/>
                <a:ea typeface="微软雅黑"/>
              </a:rPr>
              <a:t>RankIC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72768"/>
            <a:ext cx="25968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323A"/>
                </a:solidFill>
                <a:latin typeface="微软雅黑"/>
                <a:ea typeface="微软雅黑"/>
              </a:rPr>
              <a:t>官方评价指标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792224"/>
            <a:ext cx="25968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3"/>
                </a:solidFill>
                <a:latin typeface="微软雅黑"/>
                <a:ea typeface="微软雅黑"/>
              </a:rPr>
              <a:t>逐日 Spearman，再对时间取均值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01568" y="1207008"/>
            <a:ext cx="252374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6B2F"/>
                </a:solidFill>
                <a:latin typeface="微软雅黑"/>
                <a:ea typeface="微软雅黑"/>
              </a:rPr>
              <a:t>≥ 0.12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572768"/>
            <a:ext cx="25968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323A"/>
                </a:solidFill>
                <a:latin typeface="微软雅黑"/>
                <a:ea typeface="微软雅黑"/>
              </a:rPr>
              <a:t>测试集门槛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792224"/>
            <a:ext cx="25968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3"/>
                </a:solidFill>
                <a:latin typeface="微软雅黑"/>
                <a:ea typeface="微软雅黑"/>
              </a:rPr>
              <a:t>低于门槛则结果分无法过线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09728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1207008"/>
            <a:ext cx="252374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A7A7B"/>
                </a:solidFill>
                <a:latin typeface="微软雅黑"/>
                <a:ea typeface="微软雅黑"/>
              </a:rPr>
              <a:t>T +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1572768"/>
            <a:ext cx="25968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323A"/>
                </a:solidFill>
                <a:latin typeface="微软雅黑"/>
                <a:ea typeface="微软雅黑"/>
              </a:rPr>
              <a:t>官方两条提示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1792224"/>
            <a:ext cx="25968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3"/>
                </a:solidFill>
                <a:latin typeface="微软雅黑"/>
                <a:ea typeface="微软雅黑"/>
              </a:rPr>
              <a:t>时间维建模，并与股票维融合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09728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62288" y="1207008"/>
            <a:ext cx="247802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E52"/>
                </a:solidFill>
                <a:latin typeface="微软雅黑"/>
                <a:ea typeface="微软雅黑"/>
              </a:rPr>
              <a:t>y1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1572768"/>
            <a:ext cx="25511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323A"/>
                </a:solidFill>
                <a:latin typeface="微软雅黑"/>
                <a:ea typeface="微软雅黑"/>
              </a:rPr>
              <a:t>本仓库课题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792224"/>
            <a:ext cx="25511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3"/>
                </a:solidFill>
                <a:latin typeface="微软雅黑"/>
                <a:ea typeface="微软雅黑"/>
              </a:rPr>
              <a:t>不做课题2，不用 y2 当特征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377440"/>
            <a:ext cx="5669280" cy="38862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542032"/>
            <a:ext cx="52120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任务定义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5212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用当天及以前的面板，给每只股票打潜力分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每个交易日，在有效股票上比较预测与标签的名次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标签接近截面分位，均值约 0.50，应按排序理解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判断必须可按时间滚动，不能偷看未来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提交一张完整分数矩阵，无效位置也要占位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377440"/>
            <a:ext cx="5486400" cy="3886200"/>
          </a:xfrm>
          <a:prstGeom prst="roundRect">
            <a:avLst>
              <a:gd name="adj" fmla="val 8000"/>
            </a:avLst>
          </a:prstGeom>
          <a:solidFill>
            <a:srgbClr val="F7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2542032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6B2F"/>
                </a:solidFill>
                <a:latin typeface="微软雅黑"/>
                <a:ea typeface="微软雅黑"/>
              </a:rPr>
              <a:t>常见误区（本项目明确不做）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26080"/>
            <a:ext cx="50292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当成单票涨跌幅回归，误差降了名次仍乱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把原始价格水平直接当历史轨迹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打乱时间划分，或用测试标签回头搜参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只换网络名字，不落实官方双轴提示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•  把竞赛分数写成收益保证或投资建议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01  评分构成  ·  数据事实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评委看四件事；数据按官方时间索引切分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27889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2788920" cy="73152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E7D57"/>
                </a:solidFill>
                <a:latin typeface="微软雅黑"/>
                <a:ea typeface="微软雅黑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23A"/>
                </a:solidFill>
                <a:latin typeface="微软雅黑"/>
                <a:ea typeface="微软雅黑"/>
              </a:rPr>
              <a:t>结果质量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3"/>
                </a:solidFill>
                <a:latin typeface="微软雅黑"/>
                <a:ea typeface="微软雅黑"/>
              </a:rPr>
              <a:t>测试集 Mean RankIC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097280"/>
            <a:ext cx="27889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097280"/>
            <a:ext cx="2788920" cy="73152"/>
          </a:xfrm>
          <a:prstGeom prst="rect">
            <a:avLst/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2344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6FA8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600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23A"/>
                </a:solidFill>
                <a:latin typeface="微软雅黑"/>
                <a:ea typeface="微软雅黑"/>
              </a:rPr>
              <a:t>设计质量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0195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3"/>
                </a:solidFill>
                <a:latin typeface="微软雅黑"/>
                <a:ea typeface="微软雅黑"/>
              </a:rPr>
              <a:t>结构、文档、可复现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097280"/>
            <a:ext cx="27889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2788920" cy="73152"/>
          </a:xfrm>
          <a:prstGeom prst="rect">
            <a:avLst/>
          </a:prstGeom>
          <a:solidFill>
            <a:srgbClr val="2A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2344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A7A7B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00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23A"/>
                </a:solidFill>
                <a:latin typeface="微软雅黑"/>
                <a:ea typeface="微软雅黑"/>
              </a:rPr>
              <a:t>体验性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0195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3"/>
                </a:solidFill>
                <a:latin typeface="微软雅黑"/>
                <a:ea typeface="微软雅黑"/>
              </a:rPr>
              <a:t>流程顺、训练可控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097280"/>
            <a:ext cx="27889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1097280"/>
            <a:ext cx="2788920" cy="73152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12344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8863A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600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23A"/>
                </a:solidFill>
                <a:latin typeface="微软雅黑"/>
                <a:ea typeface="微软雅黑"/>
              </a:rPr>
              <a:t>创新性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90195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673"/>
                </a:solidFill>
                <a:latin typeface="微软雅黑"/>
                <a:ea typeface="微软雅黑"/>
              </a:rPr>
              <a:t>针对本场景的方法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65176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76148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E52"/>
                </a:solidFill>
                <a:latin typeface="微软雅黑"/>
                <a:ea typeface="微软雅黑"/>
              </a:rPr>
              <a:t>面板规模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09067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23A"/>
                </a:solidFill>
                <a:latin typeface="微软雅黑"/>
                <a:ea typeface="微软雅黑"/>
              </a:rPr>
              <a:t>3603 日  ×  5282 只股票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56616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99 列数值  +  9 列类别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265176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276148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E52"/>
                </a:solidFill>
                <a:latin typeface="微软雅黑"/>
                <a:ea typeface="微软雅黑"/>
              </a:rPr>
              <a:t>时间切分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09067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23A"/>
                </a:solidFill>
                <a:latin typeface="微软雅黑"/>
                <a:ea typeface="微软雅黑"/>
              </a:rPr>
              <a:t>训练 2432 · 验证 243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56616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测试 442 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65176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76148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E52"/>
                </a:solidFill>
                <a:latin typeface="微软雅黑"/>
                <a:ea typeface="微软雅黑"/>
              </a:rPr>
              <a:t>缓冲区间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09067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23A"/>
                </a:solidFill>
                <a:latin typeface="微软雅黑"/>
                <a:ea typeface="微软雅黑"/>
              </a:rPr>
              <a:t>前 486 天可回看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56616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其 y1 不进入训练集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20" y="2651760"/>
            <a:ext cx="27889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26880" y="276148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E52"/>
                </a:solidFill>
                <a:latin typeface="微软雅黑"/>
                <a:ea typeface="微软雅黑"/>
              </a:rPr>
              <a:t>提交规格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090672"/>
            <a:ext cx="2514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23A"/>
                </a:solidFill>
                <a:latin typeface="微软雅黑"/>
                <a:ea typeface="微软雅黑"/>
              </a:rPr>
              <a:t>形状 (442, 5282)  float32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566160"/>
            <a:ext cx="2514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np.load 无参可读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389120"/>
            <a:ext cx="11338560" cy="19202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45262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硬约束（违反即视为方法失败）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Mask    训练损失与 RankIC 只在 mask_y=True 上计算；推理对全部 5282 列出分，无特征位置填 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因果    窗口右端不超过预测日 t；截面 / 行业 z-score、覆盖度都只用当天，从不看 t+1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泄漏    测试集 y1 全空，禁止选模；不用 y2；疑似股票 ID 的高基数列默认关闭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数据    官方面板仅用于本届赛题，不进 git；本机约 16GB 内存，禁止并行装入两份整包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02  总体技术路线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配置驱动的离线流水线：一次实验一份配置，指标与提交格式集中在公共库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2084831" cy="777240"/>
          </a:xfrm>
          <a:prstGeom prst="roundRect">
            <a:avLst>
              <a:gd name="adj" fmla="val 12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16152"/>
            <a:ext cx="1938527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8863A"/>
                </a:solidFill>
                <a:latin typeface="微软雅黑"/>
                <a:ea typeface="微软雅黑"/>
              </a:rPr>
              <a:t>01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问题与约束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1444752"/>
            <a:ext cx="256032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24912" y="1143000"/>
            <a:ext cx="2084831" cy="777240"/>
          </a:xfrm>
          <a:prstGeom prst="roundRect">
            <a:avLst>
              <a:gd name="adj" fmla="val 12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98064" y="1216152"/>
            <a:ext cx="1938527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8863A"/>
                </a:solidFill>
                <a:latin typeface="微软雅黑"/>
                <a:ea typeface="微软雅黑"/>
              </a:rPr>
              <a:t>02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特征工程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28032" y="1444752"/>
            <a:ext cx="256032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84064" y="1143000"/>
            <a:ext cx="2084831" cy="777240"/>
          </a:xfrm>
          <a:prstGeom prst="roundRect">
            <a:avLst>
              <a:gd name="adj" fmla="val 12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7216" y="1216152"/>
            <a:ext cx="1938527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8863A"/>
                </a:solidFill>
                <a:latin typeface="微软雅黑"/>
                <a:ea typeface="微软雅黑"/>
              </a:rPr>
              <a:t>03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双轴建模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87184" y="1444752"/>
            <a:ext cx="256032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43216" y="1143000"/>
            <a:ext cx="2084831" cy="777240"/>
          </a:xfrm>
          <a:prstGeom prst="roundRect">
            <a:avLst>
              <a:gd name="adj" fmla="val 12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16368" y="1216152"/>
            <a:ext cx="1938527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8863A"/>
                </a:solidFill>
                <a:latin typeface="微软雅黑"/>
                <a:ea typeface="微软雅黑"/>
              </a:rPr>
              <a:t>04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验证锁定融合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46336" y="1444752"/>
            <a:ext cx="256032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02368" y="1143000"/>
            <a:ext cx="2084831" cy="777240"/>
          </a:xfrm>
          <a:prstGeom prst="roundRect">
            <a:avLst>
              <a:gd name="adj" fmla="val 12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0" y="1216152"/>
            <a:ext cx="1938527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8863A"/>
                </a:solidFill>
                <a:latin typeface="微软雅黑"/>
                <a:ea typeface="微软雅黑"/>
              </a:rPr>
              <a:t>05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提交自检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194560"/>
            <a:ext cx="5623560" cy="40690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33172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时间维  ·  相对强弱怎么走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88920"/>
            <a:ext cx="5212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F6FA8"/>
                </a:solidFill>
                <a:latin typeface="微软雅黑"/>
                <a:ea typeface="微软雅黑"/>
              </a:rPr>
              <a:t>历史树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过去 10 日截面 z-score 的 mean / std / last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F6FA8"/>
                </a:solidFill>
                <a:latin typeface="微软雅黑"/>
                <a:ea typeface="微软雅黑"/>
              </a:rPr>
              <a:t>GRU 轨迹支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短窗序列学习位置变化，而非原始水平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树几乎不用、但单因子不弱的列单独训练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F6FA8"/>
                </a:solidFill>
                <a:latin typeface="微软雅黑"/>
                <a:ea typeface="微软雅黑"/>
              </a:rPr>
              <a:t>训练设置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末 800 天 × 每日 2000 只，1 层 GRU hidden 64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CPU 可跑完，不依赖 GPU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94560"/>
            <a:ext cx="5532120" cy="4069080"/>
          </a:xfrm>
          <a:prstGeom prst="roundRect">
            <a:avLst>
              <a:gd name="adj" fmla="val 8000"/>
            </a:avLst>
          </a:prstGeom>
          <a:solidFill>
            <a:srgbClr val="E6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3317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7A7B"/>
                </a:solidFill>
                <a:latin typeface="微软雅黑"/>
                <a:ea typeface="微软雅黑"/>
              </a:rPr>
              <a:t>股票维  ·  当天谁相对更强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88920"/>
            <a:ext cx="51206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A7A7B"/>
                </a:solidFill>
                <a:latin typeface="微软雅黑"/>
                <a:ea typeface="微软雅黑"/>
              </a:rPr>
              <a:t>当天截面树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raw 99 列 + 市场 z + 行业 z + 低/中基数类别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快基线，也是融合底仓里的「今天长什么样」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A7A7B"/>
                </a:solidFill>
                <a:latin typeface="微软雅黑"/>
                <a:ea typeface="微软雅黑"/>
              </a:rPr>
              <a:t>行业残差 MLP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标签先减当天行业均值，补树失效的日子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6 列当天 MLP 补轨迹支缺少的「当天」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2A7A7B"/>
                </a:solidFill>
                <a:latin typeface="微软雅黑"/>
                <a:ea typeface="微软雅黑"/>
              </a:rPr>
              <a:t>评价覆盖全市场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训练可按日下采样，验证/测试必须全市场出分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03  特征工程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看相对位置怎么走，不看不可比的原始水平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7635240" cy="32461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关键对照：同样加历史，表达方式决定涨跌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F6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A13D3D"/>
                </a:solidFill>
                <a:latin typeface="微软雅黑"/>
                <a:ea typeface="微软雅黑"/>
              </a:rPr>
              <a:t>抛弃：原始水平历史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过去 10 日 raw 的统计量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A13D3D"/>
                </a:solidFill>
                <a:latin typeface="微软雅黑"/>
                <a:ea typeface="微软雅黑"/>
              </a:rPr>
              <a:t>valid RankIC  0.0844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相对截面底仓掉约 0.016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负 RankIC 日 49 → 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520440" cy="2286000"/>
          </a:xfrm>
          <a:prstGeom prst="roundRect">
            <a:avLst>
              <a:gd name="adj" fmla="val 10000"/>
            </a:avLst>
          </a:prstGeom>
          <a:solidFill>
            <a:srgbClr val="E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19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7D57"/>
                </a:solidFill>
                <a:latin typeface="微软雅黑"/>
                <a:ea typeface="微软雅黑"/>
              </a:rPr>
              <a:t>保留：截面相对强弱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每天先全市场 z-score 再统计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7D57"/>
                </a:solidFill>
                <a:latin typeface="微软雅黑"/>
                <a:ea typeface="微软雅黑"/>
              </a:rPr>
              <a:t>valid RankIC  0.1042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相对截面底仓 +0.004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C6673"/>
                </a:solidFill>
                <a:latin typeface="微软雅黑"/>
                <a:ea typeface="微软雅黑"/>
              </a:rPr>
              <a:t>负 RankIC 日 49 → 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09728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7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280160"/>
            <a:ext cx="32004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46B2F"/>
                </a:solidFill>
                <a:latin typeface="微软雅黑"/>
                <a:ea typeface="微软雅黑"/>
              </a:rPr>
              <a:t>含义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模型学的是：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C323A"/>
                </a:solidFill>
                <a:latin typeface="微软雅黑"/>
                <a:ea typeface="微软雅黑"/>
              </a:rPr>
              <a:t>这只股票相对全市场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C323A"/>
                </a:solidFill>
                <a:latin typeface="微软雅黑"/>
                <a:ea typeface="微软雅黑"/>
              </a:rPr>
              <a:t>的位置如何变化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300" b="1" i="0">
              <a:solidFill>
                <a:srgbClr val="2C323A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不是绝对价格高低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无信息日不按 0 参与均值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52628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64515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当天状态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56048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raw + 市场 z + 行业 z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低/中基数类别进入截面树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高基数编号默认关闭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452628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464515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窗口因果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956048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历史块只用 [t−L, 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主 GRU 可含/不含当天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从不使用 t+1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52628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4645152"/>
            <a:ext cx="32918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样本规则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956048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有标签则几乎必有特征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损失以 mask_y 为准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测试日无标签股票仍占列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04  双轴智能建模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官方两条提示都落成可消融的支，而不是口号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2697480" cy="7315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29844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截面树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691640"/>
            <a:ext cx="2468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当天 raw / z / 行业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LightGBM 回归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14300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143000"/>
            <a:ext cx="2697480" cy="7315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129844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历史树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691640"/>
            <a:ext cx="2468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10 日相对强弱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mean / std / last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14300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E6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143000"/>
            <a:ext cx="2697480" cy="73152"/>
          </a:xfrm>
          <a:prstGeom prst="rect">
            <a:avLst/>
          </a:prstGeom>
          <a:solidFill>
            <a:srgbClr val="2A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29844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7A7B"/>
                </a:solidFill>
                <a:latin typeface="微软雅黑"/>
                <a:ea typeface="微软雅黑"/>
              </a:rPr>
              <a:t>GRU 三支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691640"/>
            <a:ext cx="2468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x6 + only6 + next6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短窗截面轨迹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14300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7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9720" y="1143000"/>
            <a:ext cx="2697480" cy="73152"/>
          </a:xfrm>
          <a:prstGeom prst="rect">
            <a:avLst/>
          </a:prstGeom>
          <a:solidFill>
            <a:srgbClr val="C4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8" y="129844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6B2F"/>
                </a:solidFill>
                <a:latin typeface="微软雅黑"/>
                <a:ea typeface="微软雅黑"/>
              </a:rPr>
              <a:t>行业 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1691640"/>
            <a:ext cx="2468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行业残差 + 6 列当天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补树失效日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017520"/>
            <a:ext cx="11338560" cy="32461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为什么要分开训，而不是全部塞进一个模型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61188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721608"/>
            <a:ext cx="4983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树吃透当天截面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50792"/>
            <a:ext cx="4983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GRU 再看同一张截面会高度相关（约 0.95），融合加不上新信息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61188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721608"/>
            <a:ext cx="4983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互补列单独成支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050792"/>
            <a:ext cx="4983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树几乎不用、但单因子不弱的 6 列分开训，相关下降后才能加分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0060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910328"/>
            <a:ext cx="4983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损失可以是 MSE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39512"/>
            <a:ext cx="4983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验收永远是 RankIC；Pearson IC 单模更好，却更像树，融合更差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80060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4910328"/>
            <a:ext cx="4983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深度模型当融合支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239512"/>
            <a:ext cx="498348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323A"/>
                </a:solidFill>
                <a:latin typeface="微软雅黑"/>
                <a:ea typeface="微软雅黑"/>
              </a:rPr>
              <a:t>GRU 单模弱于树（约 0.09 vs 0.10），但日分数相关仅 0.37–0.48，能救负日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05  覆盖度门控融合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固定权重假定每天同样可靠；股票特别多的日子，树会掉、轨迹更好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261872"/>
            <a:ext cx="22311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树融合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64208"/>
            <a:ext cx="22311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时序 0.7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截面 0.3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07208" y="1783080"/>
            <a:ext cx="256032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63240" y="1143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36392" y="1261872"/>
            <a:ext cx="22311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GRU 混合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1664208"/>
            <a:ext cx="22311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0.15 next6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+ 0.85 内层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458968" y="1783080"/>
            <a:ext cx="256032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15000" y="1143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8152" y="1261872"/>
            <a:ext cx="22311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覆盖度门控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1664208"/>
            <a:ext cx="22311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τ = 4546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低 0.25 / 高 0.6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10728" y="1783080"/>
            <a:ext cx="256032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66760" y="11430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9912" y="1261872"/>
            <a:ext cx="22311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递推融合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1664208"/>
            <a:ext cx="223113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MLP 混合 0.15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8EEF5"/>
                </a:solidFill>
                <a:latin typeface="微软雅黑"/>
                <a:ea typeface="微软雅黑"/>
              </a:rPr>
              <a:t>避免尺度不同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81360" y="1143000"/>
            <a:ext cx="868680" cy="1554480"/>
          </a:xfrm>
          <a:prstGeom prst="roundRect">
            <a:avLst>
              <a:gd name="adj" fmla="val 8000"/>
            </a:avLst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27080" y="1417320"/>
            <a:ext cx="7772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提交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矩阵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926080"/>
            <a:ext cx="5669280" cy="3337560"/>
          </a:xfrm>
          <a:prstGeom prst="roundRect">
            <a:avLst>
              <a:gd name="adj" fmla="val 8000"/>
            </a:avLst>
          </a:prstGeom>
          <a:solidFill>
            <a:srgbClr val="F7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06324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6B2F"/>
                </a:solidFill>
                <a:latin typeface="微软雅黑"/>
                <a:ea typeface="微软雅黑"/>
              </a:rPr>
              <a:t>门控怎么用（只看当天，不看未来）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74720"/>
            <a:ext cx="52120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观测变量：当天 mask_x 有效股票数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阈值 4546 ≈ 验证集覆盖度 60 分位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低于阈值：GRU 权重 0.25（更信树）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高于阈值：GRU 权重 0.60（更信轨迹）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高覆盖四分位：树约 0.058，轨迹约 0.100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固定 0.25 权在该区间只有约 0.074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926080"/>
            <a:ext cx="5486400" cy="33375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063240"/>
            <a:ext cx="5074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怎么锁定，避免把验证集搜穿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74720"/>
            <a:ext cx="50749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权重只在 243 天验证集上小网格比较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锁死后，对测试集只推断一次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测试分只记结果，不回灌再搜门控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三档门控 valid 虚高、test 更差，已抛弃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0.001 量级抖动不当作成绩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主文件：task1_fusion_existing_recursive_w10.npy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06  创新点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创新不在更换网络名称，而在问题抽象、信息组织、合成规则和实验可信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15568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408176"/>
            <a:ext cx="822960" cy="585216"/>
          </a:xfrm>
          <a:prstGeom prst="roundRect">
            <a:avLst>
              <a:gd name="adj" fmla="val 15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99616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863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280160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E52"/>
                </a:solidFill>
                <a:latin typeface="微软雅黑"/>
                <a:ea typeface="微软雅黑"/>
              </a:rPr>
              <a:t>横截面排序建模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45920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把任务定义为每个交易日可比较集合上的相对次序。学习对象与评价对象一致，无标签区间不参与选模。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414015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2706623"/>
            <a:ext cx="822960" cy="585216"/>
          </a:xfrm>
          <a:prstGeom prst="roundRect">
            <a:avLst>
              <a:gd name="adj" fmla="val 15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3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863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78607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E52"/>
                </a:solidFill>
                <a:latin typeface="微软雅黑"/>
                <a:ea typeface="微软雅黑"/>
              </a:rPr>
              <a:t>状态与趋势分开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44367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状态回答「当前谁更有优势」，趋势回答「谁正在发生变化」。减少两路重复使用同一来源，提升可归因。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12463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" y="4005071"/>
            <a:ext cx="822960" cy="585216"/>
          </a:xfrm>
          <a:prstGeom prst="roundRect">
            <a:avLst>
              <a:gd name="adj" fmla="val 15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096511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863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877055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E52"/>
                </a:solidFill>
                <a:latin typeface="微软雅黑"/>
                <a:ea typeface="微软雅黑"/>
              </a:rPr>
              <a:t>规模感知融合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42815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把当日可比较股票规模当作环境变量，调节两路合成比例。不是靠堆模型刷验证分，而是跟踪「哪路更可信」。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10912"/>
            <a:ext cx="11338560" cy="117043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5303520"/>
            <a:ext cx="822960" cy="585216"/>
          </a:xfrm>
          <a:prstGeom prst="roundRect">
            <a:avLst>
              <a:gd name="adj" fmla="val 15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39496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863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175504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E52"/>
                </a:solidFill>
                <a:latin typeface="微软雅黑"/>
                <a:ea typeface="微软雅黑"/>
              </a:rPr>
              <a:t>可信实验体系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541264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时间因果、配置可追溯、基线保护、提交自检作为方法的一部分。失败路径明确放弃，结论可审计。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07  实验结果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同一套 RankIC，一次只改一样；官方测试过线，验证集只用于选模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188720"/>
            <a:ext cx="34838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E52"/>
                </a:solidFill>
                <a:latin typeface="微软雅黑"/>
                <a:ea typeface="微软雅黑"/>
              </a:rPr>
              <a:t>0.1308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554480"/>
            <a:ext cx="3557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323A"/>
                </a:solidFill>
                <a:latin typeface="微软雅黑"/>
                <a:ea typeface="微软雅黑"/>
              </a:rPr>
              <a:t>本地验证集 Mean RankIC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773936"/>
            <a:ext cx="3557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3"/>
                </a:solidFill>
                <a:latin typeface="微软雅黑"/>
                <a:ea typeface="微软雅黑"/>
              </a:rPr>
              <a:t>只用于选模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78992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188720"/>
            <a:ext cx="348386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E7D57"/>
                </a:solidFill>
                <a:latin typeface="微软雅黑"/>
                <a:ea typeface="微软雅黑"/>
              </a:rPr>
              <a:t>0.1293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554480"/>
            <a:ext cx="3557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323A"/>
                </a:solidFill>
                <a:latin typeface="微软雅黑"/>
                <a:ea typeface="微软雅黑"/>
              </a:rPr>
              <a:t>平台测试集 Mean RankIC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773936"/>
            <a:ext cx="35570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3"/>
                </a:solidFill>
                <a:latin typeface="微软雅黑"/>
                <a:ea typeface="微软雅黑"/>
              </a:rPr>
              <a:t>未用来改权重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78992"/>
            <a:ext cx="3657600" cy="109728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188720"/>
            <a:ext cx="3438144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6B2F"/>
                </a:solidFill>
                <a:latin typeface="微软雅黑"/>
                <a:ea typeface="微软雅黑"/>
              </a:rPr>
              <a:t>过线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1554480"/>
            <a:ext cx="35112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C323A"/>
                </a:solidFill>
                <a:latin typeface="微软雅黑"/>
                <a:ea typeface="微软雅黑"/>
              </a:rPr>
              <a:t>官方门槛  0.12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773936"/>
            <a:ext cx="35112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673"/>
                </a:solidFill>
                <a:latin typeface="微软雅黑"/>
                <a:ea typeface="微软雅黑"/>
              </a:rPr>
              <a:t>同一提交文件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331720"/>
            <a:ext cx="7589520" cy="39319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450592"/>
            <a:ext cx="7315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E52"/>
                </a:solidFill>
                <a:latin typeface="微软雅黑"/>
                <a:ea typeface="微软雅黑"/>
              </a:rPr>
              <a:t>验证集提升路径（约数，完整对照见 experiments.md）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2194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23A"/>
                </a:solidFill>
                <a:latin typeface="微软雅黑"/>
                <a:ea typeface="微软雅黑"/>
              </a:rPr>
              <a:t>最强单列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2907792"/>
            <a:ext cx="2611667" cy="256032"/>
          </a:xfrm>
          <a:prstGeom prst="roundRect">
            <a:avLst>
              <a:gd name="adj" fmla="val 20000"/>
            </a:avLst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65179" y="2834640"/>
            <a:ext cx="822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A8"/>
                </a:solidFill>
                <a:latin typeface="微软雅黑"/>
                <a:ea typeface="微软雅黑"/>
              </a:rPr>
              <a:t>0.079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64992"/>
            <a:ext cx="2194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23A"/>
                </a:solidFill>
                <a:latin typeface="微软雅黑"/>
                <a:ea typeface="微软雅黑"/>
              </a:rPr>
              <a:t>当天截面树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3438144"/>
            <a:ext cx="3305907" cy="256032"/>
          </a:xfrm>
          <a:prstGeom prst="roundRect">
            <a:avLst>
              <a:gd name="adj" fmla="val 20000"/>
            </a:avLst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59419" y="3364992"/>
            <a:ext cx="822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A8"/>
                </a:solidFill>
                <a:latin typeface="微软雅黑"/>
                <a:ea typeface="微软雅黑"/>
              </a:rPr>
              <a:t>0.100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895344"/>
            <a:ext cx="2194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23A"/>
                </a:solidFill>
                <a:latin typeface="微软雅黑"/>
                <a:ea typeface="微软雅黑"/>
              </a:rPr>
              <a:t>历史相对树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3968496"/>
            <a:ext cx="3438143" cy="256032"/>
          </a:xfrm>
          <a:prstGeom prst="roundRect">
            <a:avLst>
              <a:gd name="adj" fmla="val 20000"/>
            </a:avLst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895344"/>
            <a:ext cx="822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A8"/>
                </a:solidFill>
                <a:latin typeface="微软雅黑"/>
                <a:ea typeface="微软雅黑"/>
              </a:rPr>
              <a:t>0.104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425696"/>
            <a:ext cx="2194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23A"/>
                </a:solidFill>
                <a:latin typeface="微软雅黑"/>
                <a:ea typeface="微软雅黑"/>
              </a:rPr>
              <a:t>双树融合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0360" y="4498848"/>
            <a:ext cx="3504262" cy="256032"/>
          </a:xfrm>
          <a:prstGeom prst="roundRect">
            <a:avLst>
              <a:gd name="adj" fmla="val 20000"/>
            </a:avLst>
          </a:prstGeom>
          <a:solidFill>
            <a:srgbClr val="2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57774" y="4425696"/>
            <a:ext cx="822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FA8"/>
                </a:solidFill>
                <a:latin typeface="微软雅黑"/>
                <a:ea typeface="微软雅黑"/>
              </a:rPr>
              <a:t>0.106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56048"/>
            <a:ext cx="2194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23A"/>
                </a:solidFill>
                <a:latin typeface="微软雅黑"/>
                <a:ea typeface="微软雅黑"/>
              </a:rPr>
              <a:t>+GRU / 门控 / MLP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5029200"/>
            <a:ext cx="3867912" cy="256032"/>
          </a:xfrm>
          <a:prstGeom prst="roundRect">
            <a:avLst>
              <a:gd name="adj" fmla="val 20000"/>
            </a:avLst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21424" y="4956048"/>
            <a:ext cx="822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8863A"/>
                </a:solidFill>
                <a:latin typeface="微软雅黑"/>
                <a:ea typeface="微软雅黑"/>
              </a:rPr>
              <a:t>0.117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486400"/>
            <a:ext cx="2194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323A"/>
                </a:solidFill>
                <a:latin typeface="微软雅黑"/>
                <a:ea typeface="微软雅黑"/>
              </a:rPr>
              <a:t>锁定主方案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5559552"/>
            <a:ext cx="4000148" cy="256032"/>
          </a:xfrm>
          <a:prstGeom prst="roundRect">
            <a:avLst>
              <a:gd name="adj" fmla="val 20000"/>
            </a:avLst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53660" y="5486400"/>
            <a:ext cx="8229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57"/>
                </a:solidFill>
                <a:latin typeface="微软雅黑"/>
                <a:ea typeface="微软雅黑"/>
              </a:rPr>
              <a:t>0.131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233172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F6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0" y="24688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13D3D"/>
                </a:solidFill>
                <a:latin typeface="微软雅黑"/>
                <a:ea typeface="微软雅黑"/>
              </a:rPr>
              <a:t>明确抛弃的方向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880360"/>
            <a:ext cx="3200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原始水平历史  0.084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缩短窗口 L=5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LambdaRank  转负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覆盖度塞进树  0.064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难日残差拟合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类别直接喂 GRU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三档门控  valid 虚高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用测试分回头改权重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08  工程、体验与复现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对应评分里的设计 20% 与体验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配置驱动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459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一份 yaml 对应一次实验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改一个旋钮，基线不直接覆盖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0972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234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库 / 脚本分离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6459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切分、特征、RankIC、提交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集中在 src/，脚本只串联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972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234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内存约束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6459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整包约 8.5GB，本机 16GB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融合读切分缓存，禁止双开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09728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54312" y="12344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提交自检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1645920"/>
            <a:ext cx="2468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形状、dtype、非有限值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写完再读回，降低拒收风险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246120"/>
            <a:ext cx="75895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日常入口只有三条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94760"/>
            <a:ext cx="7223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1.  python -m venv .venv  →  pip install -r requirements.txt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2.  数据放仓库外，路径写入 configs/local.yaml 或环境变量 JINGGE_DATA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62E52"/>
                </a:solidFill>
                <a:latin typeface="微软雅黑"/>
                <a:ea typeface="微软雅黑"/>
              </a:rPr>
              <a:t>3.  python scripts/reproduce.py     （已有预测则加 --from-preds）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endParaRPr sz="1400" b="1" i="0">
              <a:solidFill>
                <a:srgbClr val="162E52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种子 42  ·  CPU 即可  ·  从零约 1.5–2.5 小时  ·  只融合数分钟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C6673"/>
                </a:solidFill>
                <a:latin typeface="微软雅黑"/>
                <a:ea typeface="微软雅黑"/>
              </a:rPr>
              <a:t>依赖：NumPy / pandas / SciPy / LightGBM / PyTorch / zstd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246120"/>
            <a:ext cx="3566160" cy="3017520"/>
          </a:xfrm>
          <a:prstGeom prst="roundRect">
            <a:avLst>
              <a:gd name="adj" fmla="val 8000"/>
            </a:avLst>
          </a:prstGeom>
          <a:solidFill>
            <a:srgbClr val="E6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3832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A7A7B"/>
                </a:solidFill>
                <a:latin typeface="微软雅黑"/>
                <a:ea typeface="微软雅黑"/>
              </a:rPr>
              <a:t>交付物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94760"/>
            <a:ext cx="3200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可运行源代码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训练好的模型文件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锁定融合配置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提交矩阵 (442, 5282)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实验记录 + 说明书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一键复现脚本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09  边界与合规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竞赛离线评分，不是交易系统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669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109728" cy="178308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E52"/>
                </a:solidFill>
                <a:latin typeface="微软雅黑"/>
                <a:ea typeface="微软雅黑"/>
              </a:rPr>
              <a:t>我们是什么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5074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面向赛题 RankIC 的离线横截面评分系统。输出用于评价的预测矩阵。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669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109728" cy="1783080"/>
          </a:xfrm>
          <a:prstGeom prst="rect">
            <a:avLst/>
          </a:prstGeom>
          <a:solidFill>
            <a:srgbClr val="C4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6B2F"/>
                </a:solidFill>
                <a:latin typeface="微软雅黑"/>
                <a:ea typeface="微软雅黑"/>
              </a:rPr>
              <a:t>我们不是什么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28800"/>
            <a:ext cx="5074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不是在线交易、投顾、自动下单。不向个人投资者提供买卖建议，不管理资金。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08960"/>
            <a:ext cx="5669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108960"/>
            <a:ext cx="109728" cy="1783080"/>
          </a:xfrm>
          <a:prstGeom prst="rect">
            <a:avLst/>
          </a:prstGeom>
          <a:solidFill>
            <a:srgbClr val="2A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A7A7B"/>
                </a:solidFill>
                <a:latin typeface="微软雅黑"/>
                <a:ea typeface="微软雅黑"/>
              </a:rPr>
              <a:t>数据怎么用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5074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官方发放面板，仅用于本届指定赛题。不入库、不转售。赛后按承诺删除。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08960"/>
            <a:ext cx="5669280" cy="17830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108960"/>
            <a:ext cx="109728" cy="178308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33756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7D57"/>
                </a:solidFill>
                <a:latin typeface="微软雅黑"/>
                <a:ea typeface="微软雅黑"/>
              </a:rPr>
              <a:t>数字怎么读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94760"/>
            <a:ext cx="5074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RankIC 是排序相关性，不是收益保证。验证集不能外推为任意市场能力。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120640"/>
            <a:ext cx="11338560" cy="1188720"/>
          </a:xfrm>
          <a:prstGeom prst="roundRect">
            <a:avLst>
              <a:gd name="adj" fmla="val 8000"/>
            </a:avLst>
          </a:prstGeom>
          <a:solidFill>
            <a:srgbClr val="F7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代码 MIT 声明不覆盖赛题数据。依赖 LightGBM / PyTorch 等开源库，对外发布须遵守各许可证。当前措施降低竞赛阶段风险，不把「已符合全部监管」写成既成事实。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10  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EEA"/>
                </a:solidFill>
                <a:latin typeface="微软雅黑"/>
                <a:ea typeface="微软雅黑"/>
              </a:rPr>
              <a:t>一条能讲清楚的主线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514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同一天里谁更有潜力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不是单票点误差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2057400"/>
            <a:ext cx="137160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37560" y="11430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28016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2514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状态 + 趋势双轴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规模感知 + 递推融合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26480" y="2057400"/>
            <a:ext cx="137160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63640" y="11430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E52"/>
                </a:solidFill>
                <a:latin typeface="微软雅黑"/>
                <a:ea typeface="微软雅黑"/>
              </a:rPr>
              <a:t>纪律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514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时间因果、验证锁定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C323A"/>
                </a:solidFill>
                <a:latin typeface="微软雅黑"/>
                <a:ea typeface="微软雅黑"/>
              </a:rPr>
              <a:t>测试只推一次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52560" y="2057400"/>
            <a:ext cx="137160" cy="164592"/>
          </a:xfrm>
          <a:prstGeom prst="rightArrow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89720" y="11430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128016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863A"/>
                </a:solidFill>
                <a:latin typeface="微软雅黑"/>
                <a:ea typeface="微软雅黑"/>
              </a:rPr>
              <a:t>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737360"/>
            <a:ext cx="2514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</a:rPr>
              <a:t>valid 0.1308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</a:rPr>
              <a:t>test 0.1293 过线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6616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730752"/>
            <a:ext cx="3291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对评委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32918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官方两条提示都做成可消融支；失败实验有数字、有结论。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56616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730752"/>
            <a:ext cx="3291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对复现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14800"/>
            <a:ext cx="32918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一条 reproduce.py；CPU、16GB 可跑；提交格式自检。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56616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3730752"/>
            <a:ext cx="32918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E52"/>
                </a:solidFill>
                <a:latin typeface="微软雅黑"/>
                <a:ea typeface="微软雅黑"/>
              </a:rPr>
              <a:t>对边界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114800"/>
            <a:ext cx="32918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323A"/>
                </a:solidFill>
                <a:latin typeface="微软雅黑"/>
                <a:ea typeface="微软雅黑"/>
              </a:rPr>
              <a:t>竞赛离线预测。分数不是收益，系统不是投顾。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靖戈企业命题 · 时间序列预测1    |    stock-mzz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5D0DC"/>
                </a:solidFill>
                <a:latin typeface="微软雅黑"/>
                <a:ea typeface="微软雅黑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谢谢评审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0DBE8"/>
                </a:solidFill>
                <a:latin typeface="微软雅黑"/>
                <a:ea typeface="微软雅黑"/>
              </a:rPr>
              <a:t>欢迎就方法、复现与结果提问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74720"/>
            <a:ext cx="10515600" cy="1828800"/>
          </a:xfrm>
          <a:prstGeom prst="roundRect">
            <a:avLst>
              <a:gd name="adj" fmla="val 8000"/>
            </a:avLst>
          </a:prstGeom>
          <a:solidFill>
            <a:srgbClr val="10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10149840" cy="713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 dirty="0" err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  <a:r>
              <a:rPr sz="1600" b="0" i="0" dirty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  <a:r>
              <a:rPr sz="1600" b="0" i="0" dirty="0" err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  <a:endParaRPr sz="1600" b="0" i="0" dirty="0">
              <a:solidFill>
                <a:srgbClr val="FFFFFF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 dirty="0" err="1">
                <a:solidFill>
                  <a:srgbClr val="FFFFFF"/>
                </a:solidFill>
                <a:latin typeface="微软雅黑"/>
                <a:ea typeface="微软雅黑"/>
              </a:rPr>
              <a:t>项目</a:t>
            </a:r>
            <a:r>
              <a:rPr sz="1600" b="0" i="0" dirty="0">
                <a:solidFill>
                  <a:srgbClr val="FFFFFF"/>
                </a:solidFill>
                <a:latin typeface="微软雅黑"/>
                <a:ea typeface="微软雅黑"/>
              </a:rPr>
              <a:t>    </a:t>
            </a:r>
            <a:r>
              <a:rPr sz="1600" b="0" i="0" dirty="0" err="1">
                <a:solidFill>
                  <a:srgbClr val="FFFFFF"/>
                </a:solidFill>
                <a:latin typeface="微软雅黑"/>
                <a:ea typeface="微软雅黑"/>
              </a:rPr>
              <a:t>面向股票横截面潜力排序的人工智能建模系统（stock-mzz</a:t>
            </a:r>
            <a:r>
              <a:rPr sz="1600" b="0" i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1178</Words>
  <Application>Microsoft Office PowerPoint</Application>
  <PresentationFormat>宽屏</PresentationFormat>
  <Paragraphs>333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zz06 z</cp:lastModifiedBy>
  <cp:revision>4</cp:revision>
  <dcterms:created xsi:type="dcterms:W3CDTF">2013-01-27T09:14:16Z</dcterms:created>
  <dcterms:modified xsi:type="dcterms:W3CDTF">2026-09-19T04:40:06Z</dcterms:modified>
  <cp:category/>
</cp:coreProperties>
</file>